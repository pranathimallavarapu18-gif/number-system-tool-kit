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15" y="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E"/>
          </a:solidFill>
          <a:ln>
            <a:solidFill>
              <a:srgbClr val="1E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41148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1371600"/>
            <a:ext cx="4114800" cy="4114800"/>
          </a:xfrm>
          <a:prstGeom prst="ellipse">
            <a:avLst/>
          </a:prstGeom>
          <a:solidFill>
            <a:srgbClr val="17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2011680"/>
            <a:ext cx="2834640" cy="2834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NUMBER SYSTEM TOOLKIT</a:t>
            </a:r>
          </a:p>
          <a:p>
            <a:pPr>
              <a:spcBef>
                <a:spcPts val="800"/>
              </a:spcBef>
              <a:defRPr sz="1600" i="1">
                <a:solidFill>
                  <a:srgbClr val="CBD5E1"/>
                </a:solidFill>
                <a:latin typeface="Calibri"/>
              </a:defRPr>
            </a:pPr>
            <a:r>
              <a:t>A Unified C++ Platform for Multi-Base Conversions &amp; Digital Logic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085046" cy="13003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rPr dirty="0"/>
              <a:t>TEAM MEMBERS:</a:t>
            </a:r>
          </a:p>
          <a:p>
            <a:pPr>
              <a:spcAft>
                <a:spcPts val="2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rPr dirty="0"/>
              <a:t>25B11DS349 - M. Lakshmi Srinivas</a:t>
            </a:r>
            <a:endParaRPr lang="en-IN" dirty="0"/>
          </a:p>
          <a:p>
            <a:pPr>
              <a:spcAft>
                <a:spcPts val="2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rPr dirty="0"/>
              <a:t> 25B11DS127 - D. </a:t>
            </a:r>
            <a:r>
              <a:rPr dirty="0" err="1"/>
              <a:t>Varaprasad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rPr lang="en-IN" dirty="0"/>
              <a:t> </a:t>
            </a:r>
            <a:r>
              <a:rPr dirty="0"/>
              <a:t>25B11DS628 - Y. Nithya Sree  </a:t>
            </a:r>
            <a:endParaRPr lang="en-IN" dirty="0"/>
          </a:p>
          <a:p>
            <a:pPr>
              <a:spcAft>
                <a:spcPts val="2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rPr dirty="0"/>
              <a:t>25B11DS320 - M. Venkata Pranathi</a:t>
            </a:r>
          </a:p>
          <a:p>
            <a:pPr>
              <a:spcAft>
                <a:spcPts val="2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rPr dirty="0"/>
              <a:t>Department of Computer Science &amp; Engineering (Data Science) · Aditya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4572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2A5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550">
                <a:solidFill>
                  <a:srgbClr val="1E293B"/>
                </a:solidFill>
                <a:latin typeface="Calibri"/>
              </a:defRPr>
            </a:pPr>
            <a:r>
              <a:t>•   Manual number system conversions are time-consuming and error-prone for students.</a:t>
            </a:r>
          </a:p>
          <a:p>
            <a:pPr>
              <a:spcAft>
                <a:spcPts val="2200"/>
              </a:spcAft>
              <a:defRPr sz="1550">
                <a:solidFill>
                  <a:srgbClr val="1E293B"/>
                </a:solidFill>
                <a:latin typeface="Calibri"/>
              </a:defRPr>
            </a:pPr>
            <a:r>
              <a:t>•   This toolkit digitizes and automates multi-base calculations with verified step-by-step logic.</a:t>
            </a:r>
          </a:p>
          <a:p>
            <a:pPr>
              <a:spcAft>
                <a:spcPts val="2200"/>
              </a:spcAft>
              <a:defRPr sz="1550">
                <a:solidFill>
                  <a:srgbClr val="1E293B"/>
                </a:solidFill>
                <a:latin typeface="Calibri"/>
              </a:defRPr>
            </a:pPr>
            <a:r>
              <a:t>•   Integrates standard bases (Binary, Octal, Hexadecimal) and arbitrary custom bases (2 to 36).</a:t>
            </a:r>
          </a:p>
          <a:p>
            <a:pPr>
              <a:spcAft>
                <a:spcPts val="2200"/>
              </a:spcAft>
              <a:defRPr sz="1550">
                <a:solidFill>
                  <a:srgbClr val="1E293B"/>
                </a:solidFill>
                <a:latin typeface="Calibri"/>
              </a:defRPr>
            </a:pPr>
            <a:r>
              <a:t>•   Includes full binary arithmetic, bitwise manipulation, 1's/2's complements, and math suites.</a:t>
            </a:r>
          </a:p>
          <a:p>
            <a:pPr>
              <a:spcAft>
                <a:spcPts val="2200"/>
              </a:spcAft>
              <a:defRPr sz="1550">
                <a:solidFill>
                  <a:srgbClr val="1E293B"/>
                </a:solidFill>
                <a:latin typeface="Calibri"/>
              </a:defRPr>
            </a:pPr>
            <a:r>
              <a:t>•   Provides real-time instant computations and mathematical explanations for informed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2A5F"/>
                </a:solidFill>
                <a:latin typeface="Calibri"/>
              </a:defRPr>
            </a:pPr>
            <a:r>
              <a:t>Key Modules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677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1E293B"/>
                </a:solidFill>
                <a:latin typeface="Calibri"/>
              </a:defRPr>
            </a:pPr>
            <a:r>
              <a:t>Multi-Base Conversion &amp; Solver</a:t>
            </a:r>
          </a:p>
        </p:txBody>
      </p:sp>
      <p:sp>
        <p:nvSpPr>
          <p:cNvPr id="5" name="Oval 4"/>
          <p:cNvSpPr/>
          <p:nvPr/>
        </p:nvSpPr>
        <p:spPr>
          <a:xfrm>
            <a:off x="6217920" y="2103120"/>
            <a:ext cx="822960" cy="8229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2677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1E293B"/>
                </a:solidFill>
                <a:latin typeface="Calibri"/>
              </a:defRPr>
            </a:pPr>
            <a:r>
              <a:t>Binary Arithmetic Operations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23360"/>
            <a:ext cx="822960" cy="8229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8795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1E293B"/>
                </a:solidFill>
                <a:latin typeface="Calibri"/>
              </a:defRPr>
            </a:pPr>
            <a:r>
              <a:t>Bitwise Manipulation &amp; Complements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4023360"/>
            <a:ext cx="822960" cy="8229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18795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1E293B"/>
                </a:solidFill>
                <a:latin typeface="Calibri"/>
              </a:defRPr>
            </a:pPr>
            <a:r>
              <a:t>Advanced Math (Trig &amp; Log Suite)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 O D U L E S   ·   E X P L A N A T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943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5F"/>
                </a:solidFill>
                <a:latin typeface="Calibri"/>
              </a:defRPr>
            </a:pPr>
            <a:r>
              <a:t>Module 1 — Multi-Base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2A5F"/>
                </a:solidFill>
                <a:latin typeface="Calibri"/>
              </a:defRPr>
            </a:pPr>
            <a:r>
              <a:t>What It Does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Converts numbers seamlessly between Decimal, Binary, Octal, Hexadecimal, and Custom bases (2–36) using repeated division and positional power expansion algorithms.</a:t>
            </a:r>
          </a:p>
          <a:p>
            <a:pPr>
              <a:spcAft>
                <a:spcPts val="120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C++ CONCEPTS USED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Classes &amp; Objects — a NumberSystem class encapsulates all conversion algorithms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Encapsulation — base radix and digit mappings are maintained securely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Loops &amp; Strings — repeated modulus division extracts remainders into dynamic strings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Standard Library — std::reverse() orders remainders from MSB to LSB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280160"/>
            <a:ext cx="5760720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70448" y="1444751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53328" y="1444751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236208" y="1444751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1627631"/>
            <a:ext cx="5394959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class NumberSystem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string decimalToBase(int num, int base)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if (num == 0) return "0";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string digits = "0123456789ABCDEF";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string result = "";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while (num &gt; 0)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  result += digits[num % base];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  num /= base;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reverse(result.begin(), result.end());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4754880"/>
            <a:ext cx="5760720" cy="1600200"/>
          </a:xfrm>
          <a:prstGeom prst="rect">
            <a:avLst/>
          </a:prstGeom>
          <a:solidFill>
            <a:srgbClr val="0A0F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489204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PROGRAM OUTPUT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-- Multi-Base Conversion Output --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Input Decimal : 255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Binary (Base 2) : 11111111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Octal  (Base 8) : 377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Hex    (Base 16): FF</a:t>
            </a:r>
          </a:p>
          <a:p>
            <a:pPr>
              <a:spcAft>
                <a:spcPts val="15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Conversion completed successfully.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Number System Toolkit (C++) · 2nd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 O D U L E S   ·   E X P L A N A T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943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5F"/>
                </a:solidFill>
                <a:latin typeface="Calibri"/>
              </a:defRPr>
            </a:pPr>
            <a:r>
              <a:t>Module 2 — Binary Arithmetic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2A5F"/>
                </a:solidFill>
                <a:latin typeface="Calibri"/>
              </a:defRPr>
            </a:pPr>
            <a:r>
              <a:t>What It Does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Performs fundamental binary arithmetic operations (Addition, Subtraction, Multiplication, and Division) with full bit-level carry propagation and digit alignment.</a:t>
            </a:r>
          </a:p>
          <a:p>
            <a:pPr>
              <a:spcAft>
                <a:spcPts val="120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C++ CONCEPTS USED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Modular Functions — addBinary() models full-adder logic with carry propagation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Pass-by-Value &amp; Loops — iterates through binary strings from LSB to MSB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String Arithmetic — converts char digits to integer values on the fly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Control Flow — handles carry overflow and variable length binary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280160"/>
            <a:ext cx="5760720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70448" y="1444751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53328" y="1444751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236208" y="1444751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1627631"/>
            <a:ext cx="5394959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string addBinary(string a, string b)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string result = "";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int i = a.length() - 1, j = b.length() - 1;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int carry = 0;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while (i &gt;= 0 || j &gt;= 0 || carry)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int sum = carry;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if (i &gt;= 0) sum += a[i--] - '0';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if (j &gt;= 0) sum += b[j--] - '0';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result += to_string(sum % 2);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carry = sum / 2;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reverse(result.begin(), result.end());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return result;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4754880"/>
            <a:ext cx="5760720" cy="1600200"/>
          </a:xfrm>
          <a:prstGeom prst="rect">
            <a:avLst/>
          </a:prstGeom>
          <a:solidFill>
            <a:srgbClr val="0A0F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489204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PROGRAM OUTPUT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-- Binary Arithmetic Simulator --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Binary A: 10110 (Decimal 22)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Binary B: 01101 (Decimal 13)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Operation: Addition (+)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Carry Generated: 1</a:t>
            </a:r>
          </a:p>
          <a:p>
            <a:pPr>
              <a:spcAft>
                <a:spcPts val="15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Result: 100011 (Decimal 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Number System Toolkit (C++) · 2nd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 O D U L E S   ·   E X P L A N A T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943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5F"/>
                </a:solidFill>
                <a:latin typeface="Calibri"/>
              </a:defRPr>
            </a:pPr>
            <a:r>
              <a:t>Module 3 — Bitwise Manipulation &amp; Complements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2A5F"/>
                </a:solidFill>
                <a:latin typeface="Calibri"/>
              </a:defRPr>
            </a:pPr>
            <a:r>
              <a:t>What It Does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Executes low-level bitwise operations (AND, OR, XOR, NOT, Bit-shifts) and calculates 1's and 2's Complement representations for signed binary numbers.</a:t>
            </a:r>
          </a:p>
          <a:p>
            <a:pPr>
              <a:spcAft>
                <a:spcPts val="120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C++ CONCEPTS USED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Bitwise Operators — &amp;, |, ^, ~, &lt;&lt;, &gt;&gt; execute direct CPU-level bit manipulation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Encapsulation — BitwiseLab class provides pure member functions for logic gates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Character Transformation — inverts bit characters '0' &lt;-&gt; '1' for 1's complement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Two's Complement Logic — adds binary '1' to 1's complement for signed integer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280160"/>
            <a:ext cx="5760720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70448" y="1444751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53328" y="1444751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236208" y="1444751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1627631"/>
            <a:ext cx="5394959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class BitwiseLab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int bitwiseAND(int a, int b) { return a &amp; b;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int bitwiseXOR(int a, int b) { return a ^ b;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string onesComplement(string bin)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for (char &amp;c : bin) c = (c == '0') ? '1' : '0';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return bin;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string twosComplement(string bin)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return addBinary(onesComplement(bin), "1");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4754880"/>
            <a:ext cx="5760720" cy="1600200"/>
          </a:xfrm>
          <a:prstGeom prst="rect">
            <a:avLst/>
          </a:prstGeom>
          <a:solidFill>
            <a:srgbClr val="0A0F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489204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PROGRAM OUTPUT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-- Bitwise &amp; Complement Suite --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Input A: 12 (1100), Input B: 10 (1010)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Bitwise AND (A &amp; B) : 8 (1000)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Bitwise XOR (A ^ B) : 6 (0110)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1's Complement of A : 0011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2's Complement of A : 0100 (-12 signed)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Number System Toolkit (C++) · 2nd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 O D U L E S   ·   E X P L A N A T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943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5F"/>
                </a:solidFill>
                <a:latin typeface="Calibri"/>
              </a:defRPr>
            </a:pPr>
            <a:r>
              <a:t>Module 4 — Advanced Math (Trig &amp; Log Suite)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2A5F"/>
                </a:solidFill>
                <a:latin typeface="Calibri"/>
              </a:defRPr>
            </a:pPr>
            <a:r>
              <a:t>What It Does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Extends integer base conversions with high-precision scientific math, evaluating all 6 trigonometric ratios and computing arbitrary-base logarithmic equations.</a:t>
            </a:r>
          </a:p>
          <a:p>
            <a:pPr>
              <a:spcAft>
                <a:spcPts val="120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C++ CONCEPTS USED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&lt;cmath&gt; Integration — utilizes sin(), cos(), tan(), log(), log10() standard functions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Type Conversion — converts degree angles to radians using M_PI constant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Change-of-Base Formula — computes log_b(x) = ln(x) / ln(b) for non-standard bases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●   Domain Validation — guards against invalid inputs like log(x &lt;= 0) or base &lt;=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280160"/>
            <a:ext cx="5760720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70448" y="1444751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53328" y="1444751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236208" y="1444751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1627631"/>
            <a:ext cx="5394959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#include &lt;cmath&gt;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class MathSuite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double trigCalc(string func, double deg)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double rad = deg * (M_PI / 180.0);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if (func == "sin") return sin(rad);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if (func == "cos") return cos(rad);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if (func == "tan") return tan(rad);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return 0.0;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double customLog(double base, double val) {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if (val &lt;= 0 || base &lt;= 1) return -1.0;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  return log(val) / log(base);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50">
                <a:solidFill>
                  <a:srgbClr val="F1F5F9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4754880"/>
            <a:ext cx="5760720" cy="1600200"/>
          </a:xfrm>
          <a:prstGeom prst="rect">
            <a:avLst/>
          </a:prstGeom>
          <a:solidFill>
            <a:srgbClr val="0A0F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489204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PROGRAM OUTPUT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-- Advanced Math Suite Output --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Angle: 30.00° -&gt; sin(30°) = 0.5000, cos(30°) = 0.8660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Logarithm Suite: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log2(256)   = 8.0000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log10(1000) = 3.0000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log5(125)   = 3.0000 (Custom Base)</a:t>
            </a:r>
          </a:p>
          <a:p>
            <a:pPr>
              <a:spcAft>
                <a:spcPts val="150"/>
              </a:spcAft>
              <a:defRPr sz="1000">
                <a:solidFill>
                  <a:srgbClr val="CBD5E1"/>
                </a:solidFill>
                <a:latin typeface="Consolas"/>
              </a:defRPr>
            </a:pPr>
            <a:r>
              <a:t>Calculations verified successfully.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Number System Toolkit (C++) · 2nd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E"/>
          </a:solidFill>
          <a:ln>
            <a:solidFill>
              <a:srgbClr val="1E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41148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1371600"/>
            <a:ext cx="4114800" cy="4114800"/>
          </a:xfrm>
          <a:prstGeom prst="ellipse">
            <a:avLst/>
          </a:prstGeom>
          <a:solidFill>
            <a:srgbClr val="17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2011680"/>
            <a:ext cx="2834640" cy="2834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sz="1600" i="1">
                <a:solidFill>
                  <a:srgbClr val="CBD5E1"/>
                </a:solidFill>
                <a:latin typeface="Calibri"/>
              </a:defRPr>
            </a:pPr>
            <a:r>
              <a:t>We appreciate your time and attention — 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1283</Words>
  <Application>Microsoft Office PowerPoint</Application>
  <PresentationFormat>Widescreen</PresentationFormat>
  <Paragraphs>152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Pranathi Reddy</cp:lastModifiedBy>
  <cp:revision>2</cp:revision>
  <dcterms:created xsi:type="dcterms:W3CDTF">2013-01-27T09:14:16Z</dcterms:created>
  <dcterms:modified xsi:type="dcterms:W3CDTF">2026-09-24T16:59:41Z</dcterms:modified>
  <cp:category/>
</cp:coreProperties>
</file>