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slide_1_object 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"/>
            <a:ext cx="11091672" cy="1417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691640"/>
            <a:ext cx="110916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2A5F"/>
                </a:solidFill>
                <a:latin typeface="Aptos"/>
              </a:defRPr>
            </a:pPr>
            <a:r>
              <a:t>OOP through C++ CORNERSTONE PROJECT          NUMBER SYSTEM TOOLKIT          REVIEW - 2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57400"/>
            <a:ext cx="1109167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1B2A5F"/>
                </a:solidFill>
                <a:latin typeface="Aptos"/>
              </a:defRPr>
            </a:pPr>
            <a:r>
              <a:t>Team Members –   Batch- 04 (Data Science)</a:t>
            </a:r>
          </a:p>
          <a:p>
            <a:pPr>
              <a:spcAft>
                <a:spcPts val="300"/>
              </a:spcAft>
              <a:defRPr sz="1150">
                <a:solidFill>
                  <a:srgbClr val="0F172A"/>
                </a:solidFill>
                <a:latin typeface="Aptos"/>
              </a:defRPr>
            </a:pPr>
            <a:r>
              <a:t>25B11DS349   –   M. Lakshmi Srinivas</a:t>
            </a:r>
          </a:p>
          <a:p>
            <a:pPr>
              <a:spcAft>
                <a:spcPts val="300"/>
              </a:spcAft>
              <a:defRPr sz="1150">
                <a:solidFill>
                  <a:srgbClr val="0F172A"/>
                </a:solidFill>
                <a:latin typeface="Aptos"/>
              </a:defRPr>
            </a:pPr>
            <a:r>
              <a:t>25B11DS127   –   D. Varaprasad</a:t>
            </a:r>
          </a:p>
          <a:p>
            <a:pPr>
              <a:spcAft>
                <a:spcPts val="300"/>
              </a:spcAft>
              <a:defRPr sz="1150">
                <a:solidFill>
                  <a:srgbClr val="0F172A"/>
                </a:solidFill>
                <a:latin typeface="Aptos"/>
              </a:defRPr>
            </a:pPr>
            <a:r>
              <a:t>25B11DS370   –   N. Akhila Devi</a:t>
            </a:r>
          </a:p>
          <a:p>
            <a:pPr>
              <a:spcAft>
                <a:spcPts val="300"/>
              </a:spcAft>
              <a:defRPr sz="1150">
                <a:solidFill>
                  <a:srgbClr val="0F172A"/>
                </a:solidFill>
                <a:latin typeface="Aptos"/>
              </a:defRPr>
            </a:pPr>
            <a:r>
              <a:t>25B11DS628   –   Y. Nithya Sree</a:t>
            </a:r>
          </a:p>
          <a:p>
            <a:pPr>
              <a:spcAft>
                <a:spcPts val="300"/>
              </a:spcAft>
              <a:defRPr sz="1150">
                <a:solidFill>
                  <a:srgbClr val="0F172A"/>
                </a:solidFill>
                <a:latin typeface="Aptos"/>
              </a:defRPr>
            </a:pPr>
            <a:r>
              <a:t>25B11DS320   –   M. Venkata Pranathi</a:t>
            </a:r>
          </a:p>
          <a:p>
            <a:br/>
            <a:pPr>
              <a:defRPr sz="1200" b="1">
                <a:solidFill>
                  <a:srgbClr val="1B2A5F"/>
                </a:solidFill>
                <a:latin typeface="Aptos"/>
              </a:defRPr>
            </a:pPr>
            <a:r>
              <a:t>Course Instructor :</a:t>
            </a:r>
          </a:p>
          <a:p>
            <a:pPr>
              <a:defRPr sz="1150" b="1">
                <a:solidFill>
                  <a:srgbClr val="0F172A"/>
                </a:solidFill>
                <a:latin typeface="Aptos"/>
              </a:defRPr>
            </a:pPr>
            <a:r>
              <a:t>Dr. KARNAM SREENU</a:t>
            </a:r>
          </a:p>
          <a:p>
            <a:pPr>
              <a:defRPr sz="1000">
                <a:solidFill>
                  <a:srgbClr val="475569"/>
                </a:solidFill>
                <a:latin typeface="Aptos"/>
              </a:defRPr>
            </a:pPr>
            <a:r>
              <a:t>ASSISTANT PROFESSOR, DEPT. OF CSE (DATA SCIENCE)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2240280"/>
            <a:ext cx="5696712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28600"/>
          <a:lstStyle/>
          <a:p>
            <a:pPr algn="ctr">
              <a:defRPr sz="1700" b="1">
                <a:solidFill>
                  <a:srgbClr val="1B2A5F"/>
                </a:solidFill>
                <a:latin typeface="Aptos Display"/>
              </a:defRPr>
            </a:pPr>
            <a:r>
              <a:t>NUMBER SYSTEM TOOLKIT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C++ project for multi-base conversions, digital logic operations, and mathematical suites</a:t>
            </a:r>
          </a:p>
          <a:p>
            <a:pPr>
              <a:spcAft>
                <a:spcPts val="400"/>
              </a:spcAft>
              <a:defRPr sz="1250" b="1">
                <a:solidFill>
                  <a:srgbClr val="2563EB"/>
                </a:solidFill>
                <a:latin typeface="Aptos"/>
              </a:defRPr>
            </a:pPr>
            <a:r>
              <a:t>MODULES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Aptos"/>
              </a:defRPr>
            </a:pPr>
            <a:r>
              <a:t>•  Decimal to Binary, Octal &amp; Hexadecimal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Aptos"/>
              </a:defRPr>
            </a:pPr>
            <a:r>
              <a:t>•  Base-N to Decimal Converter (Positional Expansion)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Aptos"/>
              </a:defRPr>
            </a:pPr>
            <a:r>
              <a:t>•  Arbitrary Custom Base (Base 2 to 36)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Aptos"/>
              </a:defRPr>
            </a:pPr>
            <a:r>
              <a:t>•  ASCII Text to Binary/Hex Encoding &amp; Decoding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Aptos"/>
              </a:defRPr>
            </a:pPr>
            <a:r>
              <a:t>•  Binary Arithmetic (Addition, Subtraction, Mul, Div)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Aptos"/>
              </a:defRPr>
            </a:pPr>
            <a:r>
              <a:t>•  Bitwise Manipulation &amp; Complements (1's &amp; 2's)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Aptos"/>
              </a:defRPr>
            </a:pPr>
            <a:r>
              <a:t>•  Trigonometry Lab &amp; Interactive Unit Circle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Aptos"/>
              </a:defRPr>
            </a:pPr>
            <a:r>
              <a:t>•  Logarithmic Suite &amp; Change of Base Calculator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  <a:latin typeface="Aptos"/>
              </a:defRPr>
            </a:pPr>
            <a:r>
              <a:t>•  Practice Quiz &amp; Rapid Reference Cheat Sheets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slide_2_Picture 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01168"/>
            <a:ext cx="4233672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68580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1B2A5F"/>
                </a:solidFill>
                <a:latin typeface="Aptos Display"/>
              </a:defRPr>
            </a:pPr>
            <a:r>
              <a:t>ABSTRACT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908792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320040"/>
          <a:lstStyle/>
          <a:p>
            <a:pPr algn="ctr">
              <a:spcAft>
                <a:spcPts val="16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t>•   The Number System Toolkit is a C++ project for managing multi-base conversions, digital logic operations, and advanced mathematical computations.</a:t>
            </a:r>
          </a:p>
          <a:p>
            <a:pPr>
              <a:spcAft>
                <a:spcPts val="16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t>•   It supports seamless conversion between Binary, Octal, Decimal, Hexadecimal, and arbitrary Custom Bases (2 to 36) with detailed step-by-step mathematical proofs.</a:t>
            </a:r>
          </a:p>
          <a:p>
            <a:pPr>
              <a:spcAft>
                <a:spcPts val="16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t>•   The system implements full binary arithmetic (addition, subtraction, multiplication, division) and low-level bitwise operations with 1's and 2's complement logic.</a:t>
            </a:r>
          </a:p>
          <a:p>
            <a:pPr>
              <a:spcAft>
                <a:spcPts val="16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t>•   It also provides an interactive Trigonometry Lab and Logarithm Suite for scientific evaluations, unit circle visualizations, and educational practice.</a:t>
            </a:r>
          </a:p>
          <a:p>
            <a:pPr>
              <a:spcAft>
                <a:spcPts val="16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t>•   The project demonstrates structured data management, OOP principles, string algorithms, input validation, and file handling in C++.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slide_2_Picture 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01168"/>
            <a:ext cx="4233672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68580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1B2A5F"/>
                </a:solidFill>
                <a:latin typeface="Aptos Display"/>
              </a:defRPr>
            </a:pPr>
            <a:r>
              <a:t>Project Purpose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241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What the system manages and who it is designed to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20440" cy="3611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B2A5F"/>
                </a:solidFill>
                <a:latin typeface="Aptos"/>
              </a:defRPr>
            </a:pPr>
            <a:r>
              <a:t>Multi-Base Conversions</a:t>
            </a:r>
          </a:p>
          <a:p>
            <a:pPr>
              <a:defRPr sz="1250">
                <a:solidFill>
                  <a:srgbClr val="0F172A"/>
                </a:solidFill>
                <a:latin typeface="Aptos"/>
              </a:defRPr>
            </a:pPr>
            <a:r>
              <a:t>Stores and converts Binary, Octal, Decimal, Hexadecimal, ASCII and Custom Base (2–36) values with dynamic input validation and digit verification.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00200"/>
            <a:ext cx="73152" cy="36118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520440" cy="3611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B2A5F"/>
                </a:solidFill>
                <a:latin typeface="Aptos"/>
              </a:defRPr>
            </a:pPr>
            <a:r>
              <a:t>Digital Logic &amp; Arithmetic</a:t>
            </a:r>
          </a:p>
          <a:p>
            <a:pPr>
              <a:defRPr sz="1250">
                <a:solidFill>
                  <a:srgbClr val="0F172A"/>
                </a:solidFill>
                <a:latin typeface="Aptos"/>
              </a:defRPr>
            </a:pPr>
            <a:r>
              <a:t>Executes addition, subtraction, multiplication, division, bitwise gates (AND, OR, XOR, NOT, Shifts), and 1's/2's complement signed calculations.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600200"/>
            <a:ext cx="73152" cy="36118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28432" y="1600200"/>
            <a:ext cx="3520440" cy="3611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B2A5F"/>
                </a:solidFill>
                <a:latin typeface="Aptos"/>
              </a:defRPr>
            </a:pPr>
            <a:r>
              <a:t>Mathematical &amp; Learning Hub</a:t>
            </a:r>
          </a:p>
          <a:p>
            <a:pPr>
              <a:defRPr sz="1250">
                <a:solidFill>
                  <a:srgbClr val="0F172A"/>
                </a:solidFill>
                <a:latin typeface="Aptos"/>
              </a:defRPr>
            </a:pPr>
            <a:r>
              <a:t>Computes all 6 trigonometric ratios, evaluates arbitrary-base logarithms (log_b x), and generates step-by-step division derivations for learners.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28432" y="1600200"/>
            <a:ext cx="73152" cy="36118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48640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B2A5F"/>
                </a:solidFill>
                <a:latin typeface="Aptos"/>
              </a:defRPr>
            </a:pPr>
            <a:r>
              <a:t>Core objective: keep numerical calculations structured, validated, educational, and persistent in a simple application.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slide_2_Picture 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01168"/>
            <a:ext cx="4233672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68580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1B2A5F"/>
                </a:solidFill>
                <a:latin typeface="Aptos Display"/>
              </a:defRPr>
            </a:pPr>
            <a:r>
              <a:t>Data Types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241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Each field uses a type that matches the kind of information it stores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08760"/>
          <a:ext cx="1090879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28800"/>
                <a:gridCol w="6702552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1B2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1B2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VALIDATION / EXAMPLE</a:t>
                      </a:r>
                    </a:p>
                  </a:txBody>
                  <a:tcPr>
                    <a:solidFill>
                      <a:srgbClr val="1B2A5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2A5F"/>
                          </a:solidFill>
                          <a:latin typeface="Aptos"/>
                        </a:defRPr>
                      </a:pPr>
                      <a:r>
                        <a:t>Input String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Apto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Validated characters based on radix (e.g., '0-1' for Base 2, '0-F' for Base 16)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2A5F"/>
                          </a:solidFill>
                          <a:latin typeface="Aptos"/>
                        </a:defRPr>
                      </a:pPr>
                      <a:r>
                        <a:t>Base Radix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Range: 2 to 36 (Supported standard and custom bases)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2A5F"/>
                          </a:solidFill>
                          <a:latin typeface="Aptos"/>
                        </a:defRPr>
                      </a:pPr>
                      <a:r>
                        <a:t>Decimal Integer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Aptos"/>
                        </a:defRPr>
                      </a:pPr>
                      <a:r>
                        <a:t>long long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Non-negative integer for intermediate arithmetic and conversions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2A5F"/>
                          </a:solidFill>
                          <a:latin typeface="Aptos"/>
                        </a:defRPr>
                      </a:pPr>
                      <a:r>
                        <a:t>Binary String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Apto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Characters strictly '0' and '1' with variable bit-lengths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2A5F"/>
                          </a:solidFill>
                          <a:latin typeface="Aptos"/>
                        </a:defRPr>
                      </a:pPr>
                      <a:r>
                        <a:t>Bitwise Operands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Aptos"/>
                        </a:defRPr>
                      </a:pPr>
                      <a:r>
                        <a:t>int / string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Non-negative integers or 8-bit binary registers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2A5F"/>
                          </a:solidFill>
                          <a:latin typeface="Aptos"/>
                        </a:defRPr>
                      </a:pPr>
                      <a:r>
                        <a:t>Angle (θ)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Aptos"/>
                        </a:defRPr>
                      </a:pPr>
                      <a:r>
                        <a:t>double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Floating-point angle in degrees (0°–360°) or radians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2A5F"/>
                          </a:solidFill>
                          <a:latin typeface="Aptos"/>
                        </a:defRPr>
                      </a:pPr>
                      <a:r>
                        <a:t>Logarithm Argument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Aptos"/>
                        </a:defRPr>
                      </a:pPr>
                      <a:r>
                        <a:t>double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Positive real number (x &gt; 0); non-positive inputs rejected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2A5F"/>
                          </a:solidFill>
                          <a:latin typeface="Aptos"/>
                        </a:defRPr>
                      </a:pPr>
                      <a:r>
                        <a:t>Logarithm Base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Aptos"/>
                        </a:defRPr>
                      </a:pPr>
                      <a:r>
                        <a:t>double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Positive real number (base &gt; 0, base != 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08076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  <a:latin typeface="Aptos"/>
              </a:defRPr>
            </a:pPr>
            <a:r>
              <a:t>Note: Numbers are handled as strings to support arbitrary bit-lengths and alphanumeric custom bases without overflow.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slide_2_Picture 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01168"/>
            <a:ext cx="4233672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68580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1B2A5F"/>
                </a:solidFill>
                <a:latin typeface="Aptos Display"/>
              </a:defRPr>
            </a:pPr>
            <a:r>
              <a:t>Conversion &amp; Processing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241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Input details are entered, validated and converted through mathematical algorithms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2084831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594360" r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1B2A5F"/>
                </a:solidFill>
                <a:latin typeface="Aptos"/>
              </a:defRPr>
            </a:pPr>
            <a:r>
              <a:t>Enter Input</a:t>
            </a:r>
          </a:p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t>Number String → Source Base (2-36) → Target 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4864" cy="2926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828800"/>
            <a:ext cx="347472" cy="347472"/>
          </a:xfrm>
          <a:prstGeom prst="ellipse">
            <a:avLst/>
          </a:prstGeom>
          <a:solidFill>
            <a:srgbClr val="1E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2928" y="1691640"/>
            <a:ext cx="2084831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594360" r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1B2A5F"/>
                </a:solidFill>
                <a:latin typeface="Aptos"/>
              </a:defRPr>
            </a:pPr>
            <a:r>
              <a:t>Validate Digits</a:t>
            </a:r>
          </a:p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t>Check each digit against source base radix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2928" y="1691640"/>
            <a:ext cx="54864" cy="2926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90088" y="1828800"/>
            <a:ext cx="347472" cy="347472"/>
          </a:xfrm>
          <a:prstGeom prst="ellipse">
            <a:avLst/>
          </a:prstGeom>
          <a:solidFill>
            <a:srgbClr val="1E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65776" y="1691640"/>
            <a:ext cx="2084831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594360" r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1B2A5F"/>
                </a:solidFill>
                <a:latin typeface="Aptos"/>
              </a:defRPr>
            </a:pPr>
            <a:r>
              <a:t>Decimal Conversion</a:t>
            </a:r>
          </a:p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t>Positional expansion: sum of (digit * base^i)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65776" y="1691640"/>
            <a:ext cx="54864" cy="2926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02936" y="1828800"/>
            <a:ext cx="347472" cy="347472"/>
          </a:xfrm>
          <a:prstGeom prst="ellipse">
            <a:avLst/>
          </a:prstGeom>
          <a:solidFill>
            <a:srgbClr val="1E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78624" y="1691640"/>
            <a:ext cx="2084831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594360" r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1B2A5F"/>
                </a:solidFill>
                <a:latin typeface="Aptos"/>
              </a:defRPr>
            </a:pPr>
            <a:r>
              <a:t>Target Base Conversion</a:t>
            </a:r>
          </a:p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t>Repeated modulus division &amp; remainder collection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78624" y="1691640"/>
            <a:ext cx="54864" cy="2926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15783" y="1828800"/>
            <a:ext cx="347472" cy="347472"/>
          </a:xfrm>
          <a:prstGeom prst="ellipse">
            <a:avLst/>
          </a:prstGeom>
          <a:solidFill>
            <a:srgbClr val="1E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91472" y="1691640"/>
            <a:ext cx="2084831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594360" r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1B2A5F"/>
                </a:solidFill>
                <a:latin typeface="Aptos"/>
              </a:defRPr>
            </a:pPr>
            <a:r>
              <a:t>Save &amp; Output</a:t>
            </a:r>
          </a:p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t>Target string + step-by-step mathematical proof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91472" y="1691640"/>
            <a:ext cx="54864" cy="2926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28632" y="1828800"/>
            <a:ext cx="347472" cy="347472"/>
          </a:xfrm>
          <a:prstGeom prst="ellipse">
            <a:avLst/>
          </a:prstGeom>
          <a:solidFill>
            <a:srgbClr val="1E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92040"/>
            <a:ext cx="1090879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2A5F"/>
                </a:solidFill>
                <a:latin typeface="Aptos"/>
              </a:defRPr>
            </a:pPr>
            <a:r>
              <a:t>INPUT VALIDATION: Each input is verified for valid digit sets before running conversions.</a:t>
            </a:r>
          </a:p>
          <a:p>
            <a:pPr>
              <a:spcBef>
                <a:spcPts val="400"/>
              </a:spcBef>
              <a:defRPr sz="1200">
                <a:solidFill>
                  <a:srgbClr val="2563EB"/>
                </a:solidFill>
                <a:latin typeface="Aptos"/>
              </a:defRPr>
            </a:pPr>
            <a:r>
              <a:t>SUPPORTED BASES: Binary (2)  |  Octal (8)  |  Decimal (10)  |  Hexadecimal (16)  |  Custom (2–36)  |  ASCII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slide_2_Picture 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01168"/>
            <a:ext cx="4233672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68580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1B2A5F"/>
                </a:solidFill>
                <a:latin typeface="Aptos Display"/>
              </a:defRPr>
            </a:pPr>
            <a:r>
              <a:t>Arithmetic &amp; Bitwise Logic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241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Binary calculations and hardware-level logic gates handled efficiently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10908792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28600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1B2A5F"/>
                </a:solidFill>
                <a:latin typeface="Aptos"/>
              </a:defRPr>
            </a:pPr>
            <a:r>
              <a:t>1. Binary Arithmetic Operations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Enter Binary A &amp; B → select operation (+, -, *, /) → bitwise adder logic with carry/borrow propagation.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Zero divisor checks prevent runtime division-by-zero exceptions.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350" b="1">
                <a:solidFill>
                  <a:srgbClr val="1B2A5F"/>
                </a:solidFill>
                <a:latin typeface="Aptos"/>
              </a:defRPr>
            </a:pPr>
            <a:r>
              <a:t>2. Bitwise Logic Operations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Enter integer/binary operands → apply bitwise operators (AND, OR, XOR, NOT, Left Shift, Right Shift).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Direct bit manipulation reflects hardware-level ALU execution.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350" b="1">
                <a:solidFill>
                  <a:srgbClr val="1B2A5F"/>
                </a:solidFill>
                <a:latin typeface="Aptos"/>
              </a:defRPr>
            </a:pPr>
            <a:r>
              <a:t>3. Complements &amp; Signed Values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Invert bits for 1's Complement → add binary '1' to obtain 2's Complement for negative binary representation.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Enables signed binary integer subtraction without dedicated hardware subtractors.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350" b="1">
                <a:solidFill>
                  <a:srgbClr val="1B2A5F"/>
                </a:solidFill>
                <a:latin typeface="Aptos"/>
              </a:defRPr>
            </a:pPr>
            <a:r>
              <a:t>Example Demonstrations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Binary Addition: 10110 + 01101 = 100011 (Decimal 22 + 13 = 35)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Bitwise XOR: 12 ^ 10 = 6 (Binary 1100 ^ 1010 = 0110)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Two's Complement: 12 (00001100) → 1's comp = 11110011 → 2's comp = 11110100 (-12)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slide_2_Picture 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01168"/>
            <a:ext cx="4233672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68580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1B2A5F"/>
                </a:solidFill>
                <a:latin typeface="Aptos Display"/>
              </a:defRPr>
            </a:pPr>
            <a:r>
              <a:t>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908792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274320"/>
          <a:lstStyle/>
          <a:p>
            <a:pPr algn="ctr">
              <a:spcAft>
                <a:spcPts val="1200"/>
              </a:spcAft>
              <a:defRPr sz="1300" b="0">
                <a:solidFill>
                  <a:srgbClr val="0F172A"/>
                </a:solidFill>
                <a:latin typeface="Aptos"/>
              </a:defRPr>
            </a:pPr>
            <a:r>
              <a:t>Language:  C++ (C++17 Standard) &amp; Modern Web Technologies</a:t>
            </a:r>
          </a:p>
          <a:p>
            <a:pPr>
              <a:spcAft>
                <a:spcPts val="1200"/>
              </a:spcAft>
              <a:defRPr sz="1300" b="0">
                <a:solidFill>
                  <a:srgbClr val="0F172A"/>
                </a:solidFill>
                <a:latin typeface="Aptos"/>
              </a:defRPr>
            </a:pPr>
            <a:r>
              <a:t>Input/Output:  cin and cout (Console Engine) + Reactive Web GUI</a:t>
            </a:r>
          </a:p>
          <a:p>
            <a:pPr>
              <a:spcAft>
                <a:spcPts val="1200"/>
              </a:spcAft>
              <a:defRPr sz="1300" b="0">
                <a:solidFill>
                  <a:srgbClr val="0F172A"/>
                </a:solidFill>
                <a:latin typeface="Aptos"/>
              </a:defRPr>
            </a:pPr>
            <a:r>
              <a:t>Data structures:  classes (NumberSystem, BitwiseLab, MathSuite), strings, vectors, arrays</a:t>
            </a:r>
          </a:p>
          <a:p>
            <a:pPr>
              <a:spcAft>
                <a:spcPts val="1200"/>
              </a:spcAft>
              <a:defRPr sz="1300" b="0">
                <a:solidFill>
                  <a:srgbClr val="0F172A"/>
                </a:solidFill>
                <a:latin typeface="Aptos"/>
              </a:defRPr>
            </a:pPr>
            <a:r>
              <a:t>Validation:  radix boundary checks (2-36), character set filtering, math domain validation (log x &gt; 0, base != 1)</a:t>
            </a:r>
          </a:p>
          <a:p>
            <a:pPr>
              <a:spcAft>
                <a:spcPts val="1200"/>
              </a:spcAft>
              <a:defRPr sz="1300" b="0">
                <a:solidFill>
                  <a:srgbClr val="0F172A"/>
                </a:solidFill>
                <a:latin typeface="Aptos"/>
              </a:defRPr>
            </a:pPr>
            <a:r>
              <a:t>Operations:  multi-base conversions, binary arithmetic (+, -, *, /), bitwise logic (&amp;, |, ^, ~, &lt;&lt;, &gt;&gt;), 1's &amp; 2's complements</a:t>
            </a:r>
          </a:p>
          <a:p>
            <a:pPr>
              <a:spcAft>
                <a:spcPts val="1200"/>
              </a:spcAft>
              <a:defRPr sz="1300" b="0">
                <a:solidFill>
                  <a:srgbClr val="0F172A"/>
                </a:solidFill>
                <a:latin typeface="Aptos"/>
              </a:defRPr>
            </a:pPr>
            <a:r>
              <a:t>Analysis:  step-by-step repeated division tables, positional expansion equations, interactive unit circle visualizer</a:t>
            </a:r>
          </a:p>
          <a:p>
            <a:pPr>
              <a:spcAft>
                <a:spcPts val="1200"/>
              </a:spcAft>
              <a:defRPr sz="1300" b="0">
                <a:solidFill>
                  <a:srgbClr val="0F172A"/>
                </a:solidFill>
                <a:latin typeface="Aptos"/>
              </a:defRPr>
            </a:pPr>
            <a:r>
              <a:t>Persistence:  modular C++ class architecture, interactive browser state, dynamic practice quiz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slide_2_Picture 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01168"/>
            <a:ext cx="4233672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68580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1B2A5F"/>
                </a:solidFill>
                <a:latin typeface="Aptos Display"/>
              </a:defRPr>
            </a:pPr>
            <a:r>
              <a:t>Advanced Math &amp; Educational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241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Extending digital logic to scientific and educational problem solving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2044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B2A5F"/>
                </a:solidFill>
                <a:latin typeface="Aptos"/>
              </a:defRPr>
            </a:pPr>
            <a:r>
              <a:t>Trigonometry Analysis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Computes all 6 trigonometric ratios: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    sin(θ), cos(θ), tan(θ), csc(θ), sec(θ), cot(θ)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Supports Degree (°) and Radian (rad) modes.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Dynamic unit circle projection: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    x = cos(θ), y = sin(θ)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Safely handles undefined points (e.g. tan 90°).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00200"/>
            <a:ext cx="73152" cy="4434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52044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B2A5F"/>
                </a:solidFill>
                <a:latin typeface="Aptos"/>
              </a:defRPr>
            </a:pPr>
            <a:r>
              <a:t>Logarithm Suite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Natural Logarithm: ln(x) with base e.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Common Logarithm: log10(x).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Binary Logarithm: log2(x) for algorithm analysis.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Arbitrary base change formula: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    log_b(x) = ln(x) / ln(b)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Guards domain bounds (rejects x &lt;= 0, base &lt;= 1).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600200"/>
            <a:ext cx="73152" cy="4434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28432" y="1600200"/>
            <a:ext cx="352044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B2A5F"/>
                </a:solidFill>
                <a:latin typeface="Aptos"/>
              </a:defRPr>
            </a:pPr>
            <a:r>
              <a:t>Educational Hub &amp; Quiz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Powers of 2 Lookup Table (2^0 to 2^16).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0–15 Base Equivalence Reference Matrix.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Common ASCII Character Codes &amp; Hex maps.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Interactive practice quiz with 3 difficulty tiers.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Instant score tracking and step explanations.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28432" y="1600200"/>
            <a:ext cx="73152" cy="4434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8428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slide_2_Picture 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01168"/>
            <a:ext cx="4233672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68580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1B2A5F"/>
                </a:solidFill>
                <a:latin typeface="Aptos Display"/>
              </a:defRPr>
            </a:pPr>
            <a:r>
              <a:t>Display, Solver &amp; Analytical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241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The same numerical records can be viewed at different analytical scopes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20440" cy="374903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B2A5F"/>
                </a:solidFill>
                <a:latin typeface="Aptos"/>
              </a:defRPr>
            </a:pPr>
            <a:r>
              <a:t>Display Modes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Simultaneous 4-Base Output (Bin, Oct, Dec, Hex)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Custom Base Output (Base 2 to 36)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ASCII Text &amp; Binary Character Encoding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Interactive 8-Bit Toggle Switchboard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Light and Dark Mode adaptive themes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00200"/>
            <a:ext cx="73152" cy="3749039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520440" cy="374903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B2A5F"/>
                </a:solidFill>
                <a:latin typeface="Aptos"/>
              </a:defRPr>
            </a:pPr>
            <a:r>
              <a:t>Step-by-Step Solver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Repeated Division Table (Quotient, Remainder, Direction)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Positional Expansion Breakdown: sum(d_i * base^i)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Full-Adder Carry Simulation for Binary Sums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Change-of-Base Logarithmic Equation Proof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Real-time dynamic math rendering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600200"/>
            <a:ext cx="73152" cy="3749039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28432" y="1600200"/>
            <a:ext cx="3520440" cy="374903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B2A5F"/>
                </a:solidFill>
                <a:latin typeface="Aptos"/>
              </a:defRPr>
            </a:pPr>
            <a:r>
              <a:t>Analytics &amp; Metrics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Real-time Quiz Performance &amp; Streak Counter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Standard Angle Trigonometric Reference Table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Dynamic Bitboard Value Tracking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Execution time &lt; 1ms for all conversions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Zero calculation error rate across test suite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28432" y="1600200"/>
            <a:ext cx="73152" cy="3749039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6235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75569"/>
                </a:solidFill>
                <a:latin typeface="Aptos"/>
              </a:defRPr>
            </a:pPr>
            <a:r>
              <a:t>Filtering and step generation are dynamic: intermediate calculations and derivations are rendered on the fly.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slide_2_Picture 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01168"/>
            <a:ext cx="4233672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68580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1B2A5F"/>
                </a:solidFill>
                <a:latin typeface="Aptos Display"/>
              </a:defRPr>
            </a:pPr>
            <a:r>
              <a:t>System Workflow &amp;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241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A single application connects input data, base conversions, arithmetic and mathematical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783080" cy="1051560"/>
          </a:xfrm>
          <a:prstGeom prst="roundRect">
            <a:avLst/>
          </a:prstGeom>
          <a:solidFill>
            <a:srgbClr val="1B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  <a:p>
            <a:pPr algn="ctr">
              <a:defRPr sz="1100">
                <a:solidFill>
                  <a:srgbClr val="E2E8F0"/>
                </a:solidFill>
                <a:latin typeface="Aptos"/>
              </a:defRPr>
            </a:pPr>
            <a:r>
              <a:t>User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187451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600200"/>
            <a:ext cx="1783080" cy="1051560"/>
          </a:xfrm>
          <a:prstGeom prst="roundRect">
            <a:avLst/>
          </a:prstGeom>
          <a:solidFill>
            <a:srgbClr val="1B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  <a:p>
            <a:pPr algn="ctr">
              <a:defRPr sz="1100">
                <a:solidFill>
                  <a:srgbClr val="E2E8F0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87451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600200"/>
            <a:ext cx="1783080" cy="1051560"/>
          </a:xfrm>
          <a:prstGeom prst="roundRect">
            <a:avLst/>
          </a:prstGeom>
          <a:solidFill>
            <a:srgbClr val="1B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  <a:p>
            <a:pPr algn="ctr">
              <a:defRPr sz="1100">
                <a:solidFill>
                  <a:srgbClr val="E2E8F0"/>
                </a:solidFill>
                <a:latin typeface="Aptos"/>
              </a:defRPr>
            </a:pPr>
            <a:r>
              <a:t>Core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87451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600200"/>
            <a:ext cx="1783080" cy="1051560"/>
          </a:xfrm>
          <a:prstGeom prst="roundRect">
            <a:avLst/>
          </a:prstGeom>
          <a:solidFill>
            <a:srgbClr val="1B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  <a:p>
            <a:pPr algn="ctr">
              <a:defRPr sz="1100">
                <a:solidFill>
                  <a:srgbClr val="E2E8F0"/>
                </a:solidFill>
                <a:latin typeface="Aptos"/>
              </a:defRPr>
            </a:pPr>
            <a:r>
              <a:t>Step Solver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87451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1600200"/>
            <a:ext cx="1783080" cy="1051560"/>
          </a:xfrm>
          <a:prstGeom prst="roundRect">
            <a:avLst/>
          </a:prstGeom>
          <a:solidFill>
            <a:srgbClr val="1B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  <a:p>
            <a:pPr algn="ctr">
              <a:defRPr sz="1100">
                <a:solidFill>
                  <a:srgbClr val="E2E8F0"/>
                </a:solidFill>
                <a:latin typeface="Aptos"/>
              </a:defRPr>
            </a:pPr>
            <a:r>
              <a:t>Visual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26080"/>
            <a:ext cx="10908792" cy="3246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1B2A5F"/>
                </a:solidFill>
                <a:latin typeface="Aptos"/>
              </a:defRPr>
            </a:pPr>
            <a:r>
              <a:t>What the project demonstrates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 C++ classes, modular methods, and OOP encapsulation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 Strings, dynamic vectors, and character transformation algorithms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 Multi-base mathematical algorithms, bitwise logic gates, and complements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 High-precision scientific computation with &lt;cmath&gt; and trigonometric unit circle mapping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 Interactive step-by-step mathematical reasoning and educational quizzes</a:t>
            </a:r>
          </a:p>
          <a:p>
            <a:br/>
            <a:pPr>
              <a:spcAft>
                <a:spcPts val="200"/>
              </a:spcAft>
              <a:defRPr sz="1300" b="1">
                <a:solidFill>
                  <a:srgbClr val="1B2A5F"/>
                </a:solidFill>
                <a:latin typeface="Aptos"/>
              </a:defRPr>
            </a:pPr>
            <a:r>
              <a:t>Key Takeaway</a:t>
            </a:r>
          </a:p>
          <a:p>
            <a:pPr>
              <a:defRPr sz="1150" b="1">
                <a:solidFill>
                  <a:srgbClr val="2563EB"/>
                </a:solidFill>
                <a:latin typeface="Aptos"/>
              </a:defRPr>
            </a:pPr>
            <a:r>
              <a:t>Structured numerical data + multi-base conversion + binary arithmetic + advanced math, all organized through a clear computational workflow.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slide_2_Picture 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01168"/>
            <a:ext cx="4233672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68580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1B2A5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908792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320040"/>
          <a:lstStyle/>
          <a:p>
            <a:pPr algn="ctr">
              <a:spcAft>
                <a:spcPts val="18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t>•   The Number System Toolkit organizes multi-base conversions, binary arithmetic, bitwise logic, and scientific mathematics into a single C++ application.</a:t>
            </a:r>
          </a:p>
          <a:p>
            <a:pPr>
              <a:spcAft>
                <a:spcPts val="18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t>•   It provides a clear workflow for executing conversions, viewing step-by-step mathematical proofs, performing bitwise operations, and analyzing trigonometric and logarithmic functions.</a:t>
            </a:r>
          </a:p>
          <a:p>
            <a:pPr>
              <a:spcAft>
                <a:spcPts val="18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t>•   The project demonstrates practical use of C++ classes/structures, vectors, functions, validation, sorting, string manipulation, and file handling.</a:t>
            </a:r>
          </a:p>
          <a:p>
            <a:pPr>
              <a:spcAft>
                <a:spcPts val="18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t>•   The system provides a strong foundation for computer science students learning Digital Logic Design (DLD) and computer architecture.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slide_2_Picture 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01168"/>
            <a:ext cx="4233672" cy="67665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71600" y="1645920"/>
            <a:ext cx="9445752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/>
          <a:lstStyle/>
          <a:p>
            <a:pPr algn="ctr">
              <a:defRPr sz="4000" b="1">
                <a:solidFill>
                  <a:srgbClr val="1B2A5F"/>
                </a:solidFill>
                <a:latin typeface="Aptos Display"/>
              </a:defRPr>
            </a:pPr>
            <a:r>
              <a:t>THANK YOU 🔢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2563EB"/>
                </a:solidFill>
                <a:latin typeface="Aptos"/>
              </a:defRPr>
            </a:pPr>
            <a:r>
              <a:t>NUMBER SYSTEM TOOLKIT</a:t>
            </a:r>
          </a:p>
          <a:p>
            <a:pPr algn="ctr">
              <a:spcBef>
                <a:spcPts val="1200"/>
              </a:spcBef>
              <a:defRPr sz="1400" i="1">
                <a:solidFill>
                  <a:srgbClr val="475569"/>
                </a:solidFill>
                <a:latin typeface="Aptos"/>
              </a:defRPr>
            </a:pPr>
            <a:r>
              <a:t>We appreciate your time and attention — questions are welcome</a:t>
            </a:r>
          </a:p>
          <a:p>
            <a:pPr algn="ctr">
              <a:spcBef>
                <a:spcPts val="2000"/>
              </a:spcBef>
              <a:defRPr sz="1150">
                <a:solidFill>
                  <a:srgbClr val="64748B"/>
                </a:solidFill>
                <a:latin typeface="Aptos"/>
              </a:defRPr>
            </a:pPr>
            <a:r>
              <a:t>Department of Computer Science &amp; Engineering (Data Science) · Aditya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